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373" r:id="rId3"/>
    <p:sldId id="391" r:id="rId4"/>
    <p:sldId id="393" r:id="rId5"/>
    <p:sldId id="395" r:id="rId6"/>
    <p:sldId id="396" r:id="rId7"/>
    <p:sldId id="40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3AC"/>
    <a:srgbClr val="F8D0BE"/>
    <a:srgbClr val="FFFF99"/>
    <a:srgbClr val="FFFFCD"/>
    <a:srgbClr val="61B39A"/>
    <a:srgbClr val="C1C1FF"/>
    <a:srgbClr val="ABABFF"/>
    <a:srgbClr val="7575FF"/>
    <a:srgbClr val="CFE1B1"/>
    <a:srgbClr val="48E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92" d="100"/>
          <a:sy n="92" d="100"/>
        </p:scale>
        <p:origin x="14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1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4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07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8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4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3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1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9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0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1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5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1C42C7D-A649-418D-B599-B2B0766ABEB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7793BA-B86D-4A1C-A2A9-EAF07E90C6C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04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B708-2819-4DB5-AA44-86E26A16E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MATH-234 </a:t>
            </a:r>
            <a:br>
              <a:rPr lang="en-US" dirty="0">
                <a:latin typeface="Bahnschrift Condensed" panose="020B0502040204020203" pitchFamily="34" charset="0"/>
              </a:rPr>
            </a:br>
            <a:r>
              <a:rPr lang="en-US" dirty="0">
                <a:latin typeface="Bahnschrift Condensed" panose="020B0502040204020203" pitchFamily="34" charset="0"/>
              </a:rPr>
              <a:t>Multivariable Calculus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41C40-E043-4E5D-B07C-5DA46258C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Dr. </a:t>
            </a:r>
            <a:r>
              <a:rPr lang="en-US" dirty="0" err="1"/>
              <a:t>Atifa</a:t>
            </a:r>
            <a:r>
              <a:rPr lang="en-US" dirty="0"/>
              <a:t> </a:t>
            </a:r>
            <a:r>
              <a:rPr lang="en-US" dirty="0" err="1"/>
              <a:t>Kanwal</a:t>
            </a:r>
            <a:endParaRPr lang="en-US" dirty="0"/>
          </a:p>
          <a:p>
            <a:r>
              <a:rPr lang="en-US" dirty="0"/>
              <a:t>Office # A-213</a:t>
            </a:r>
          </a:p>
          <a:p>
            <a:r>
              <a:rPr lang="en-US" cap="none" dirty="0"/>
              <a:t>atifa.kanwal@seecs.edu.pk</a:t>
            </a:r>
          </a:p>
        </p:txBody>
      </p:sp>
    </p:spTree>
    <p:extLst>
      <p:ext uri="{BB962C8B-B14F-4D97-AF65-F5344CB8AC3E}">
        <p14:creationId xmlns:p14="http://schemas.microsoft.com/office/powerpoint/2010/main" val="3375855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66549-7A7F-4D84-99C8-5F8E6B6D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CYLINDERS AND QUADRIC SURFACES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14FA0-5490-4E26-AAB0-FEA5858BB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12.6</a:t>
            </a:r>
          </a:p>
          <a:p>
            <a:r>
              <a:rPr lang="en-US" dirty="0"/>
              <a:t>THOMAS CALCULUS 14</a:t>
            </a:r>
            <a:r>
              <a:rPr lang="en-US" baseline="30000" dirty="0"/>
              <a:t>TH</a:t>
            </a:r>
            <a:r>
              <a:rPr lang="en-US" dirty="0"/>
              <a:t>/11</a:t>
            </a:r>
            <a:r>
              <a:rPr lang="en-US" baseline="30000" dirty="0"/>
              <a:t>th</a:t>
            </a:r>
            <a:r>
              <a:rPr lang="en-US" dirty="0"/>
              <a:t>  EDITION</a:t>
            </a:r>
          </a:p>
        </p:txBody>
      </p:sp>
    </p:spTree>
    <p:extLst>
      <p:ext uri="{BB962C8B-B14F-4D97-AF65-F5344CB8AC3E}">
        <p14:creationId xmlns:p14="http://schemas.microsoft.com/office/powerpoint/2010/main" val="4094489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0C482B-269B-4C65-8A57-111D318F8CE5}"/>
              </a:ext>
            </a:extLst>
          </p:cNvPr>
          <p:cNvSpPr txBox="1"/>
          <p:nvPr/>
        </p:nvSpPr>
        <p:spPr>
          <a:xfrm>
            <a:off x="432261" y="307941"/>
            <a:ext cx="3300154" cy="523220"/>
          </a:xfrm>
          <a:prstGeom prst="rect">
            <a:avLst/>
          </a:prstGeom>
          <a:solidFill>
            <a:srgbClr val="FFFFCD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hnschrift Condensed" panose="020B0502040204020203" pitchFamily="34" charset="0"/>
              </a:rPr>
              <a:t>Hyperboloid of two sheets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FAEF3C-0E1E-46D7-8C52-1C4F99BB16AA}"/>
                  </a:ext>
                </a:extLst>
              </p:cNvPr>
              <p:cNvSpPr txBox="1"/>
              <p:nvPr/>
            </p:nvSpPr>
            <p:spPr>
              <a:xfrm>
                <a:off x="432261" y="989008"/>
                <a:ext cx="6916190" cy="5182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The standard equation of elliptical paraboloid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200" dirty="0"/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It is symmetric about three coordinate planes.</a:t>
                </a: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It intersects only z-axis 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200" dirty="0"/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Axis is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r>
                  <a:rPr lang="en-US" sz="2200" b="1" dirty="0"/>
                  <a:t>Traces: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=0⟹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Hyperbola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=0⟹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200">
                          <a:latin typeface="Cambria Math" panose="02040503050406030204" pitchFamily="18" charset="0"/>
                        </a:rPr>
                        <m:t>Hyperbola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=0⟹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No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point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=±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⟹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(0,0,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FAEF3C-0E1E-46D7-8C52-1C4F99BB1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61" y="989008"/>
                <a:ext cx="6916190" cy="5182252"/>
              </a:xfrm>
              <a:prstGeom prst="rect">
                <a:avLst/>
              </a:prstGeom>
              <a:blipFill>
                <a:blip r:embed="rId2"/>
                <a:stretch>
                  <a:fillRect l="-1146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9722168-9B08-4CB2-9F36-52D4D7F34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097" y="231219"/>
            <a:ext cx="2791215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9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C668C8-AEB6-4A19-82CA-3946CFFC0165}"/>
              </a:ext>
            </a:extLst>
          </p:cNvPr>
          <p:cNvSpPr/>
          <p:nvPr/>
        </p:nvSpPr>
        <p:spPr>
          <a:xfrm>
            <a:off x="440289" y="273646"/>
            <a:ext cx="1549591" cy="523220"/>
          </a:xfrm>
          <a:prstGeom prst="rect">
            <a:avLst/>
          </a:prstGeom>
          <a:solidFill>
            <a:srgbClr val="00B0F0"/>
          </a:solidFill>
        </p:spPr>
        <p:txBody>
          <a:bodyPr wrap="none">
            <a:spAutoFit/>
          </a:bodyPr>
          <a:lstStyle/>
          <a:p>
            <a:r>
              <a:rPr lang="en-US" sz="2800" b="1" dirty="0"/>
              <a:t>Example: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40C283-B36B-4E83-9640-E0A72AD6E364}"/>
                  </a:ext>
                </a:extLst>
              </p:cNvPr>
              <p:cNvSpPr/>
              <p:nvPr/>
            </p:nvSpPr>
            <p:spPr>
              <a:xfrm>
                <a:off x="381558" y="905348"/>
                <a:ext cx="5714442" cy="2808461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b="1" dirty="0"/>
                  <a:t>Consider the following equation of a quadric surface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US" sz="22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sz="22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2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2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2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2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200" b="1" dirty="0"/>
              </a:p>
              <a:p>
                <a:r>
                  <a:rPr lang="en-US" sz="2200" b="1" dirty="0"/>
                  <a:t>a.</a:t>
                </a:r>
                <a:r>
                  <a:rPr lang="en-US" sz="2200" dirty="0"/>
                  <a:t> Identify the surface and it’s axis(if any).</a:t>
                </a:r>
              </a:p>
              <a:p>
                <a:r>
                  <a:rPr lang="en-US" sz="2200" b="1" dirty="0"/>
                  <a:t>b.</a:t>
                </a:r>
                <a:r>
                  <a:rPr lang="en-US" sz="2200" dirty="0"/>
                  <a:t> Write traces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r>
                  <a:rPr lang="en-US" sz="2200" b="1" dirty="0"/>
                  <a:t>c</a:t>
                </a:r>
                <a:r>
                  <a:rPr lang="en-US" sz="2200" dirty="0"/>
                  <a:t>. Find equation of level curve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200" dirty="0"/>
              </a:p>
              <a:p>
                <a:r>
                  <a:rPr lang="en-US" sz="2200" b="1" dirty="0"/>
                  <a:t>d.</a:t>
                </a:r>
                <a:r>
                  <a:rPr lang="en-US" sz="2200" dirty="0"/>
                  <a:t> Sketch the traces on the same system/plane to obtain the shape of the surface.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40C283-B36B-4E83-9640-E0A72AD6E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58" y="905348"/>
                <a:ext cx="5714442" cy="2808461"/>
              </a:xfrm>
              <a:prstGeom prst="rect">
                <a:avLst/>
              </a:prstGeom>
              <a:blipFill>
                <a:blip r:embed="rId2"/>
                <a:stretch>
                  <a:fillRect l="-1278" t="-1299" b="-324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C5B65-ABA6-4FD5-8234-0D5C5C961B97}"/>
                  </a:ext>
                </a:extLst>
              </p:cNvPr>
              <p:cNvSpPr txBox="1"/>
              <p:nvPr/>
            </p:nvSpPr>
            <p:spPr>
              <a:xfrm>
                <a:off x="381558" y="3715407"/>
                <a:ext cx="5714442" cy="212365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Solution:</a:t>
                </a:r>
              </a:p>
              <a:p>
                <a:r>
                  <a:rPr lang="en-US" sz="2200" dirty="0"/>
                  <a:t>Equation of quadric surface in standard form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=2,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Hyperboloid of two sheets with axis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C5B65-ABA6-4FD5-8234-0D5C5C961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58" y="3715407"/>
                <a:ext cx="5714442" cy="2123658"/>
              </a:xfrm>
              <a:prstGeom prst="rect">
                <a:avLst/>
              </a:prstGeom>
              <a:blipFill>
                <a:blip r:embed="rId3"/>
                <a:stretch>
                  <a:fillRect l="-1278" t="-1425" b="-4558"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E4F2C7E-6C9E-450F-86F9-9BEAA56B01EA}"/>
                  </a:ext>
                </a:extLst>
              </p:cNvPr>
              <p:cNvSpPr/>
              <p:nvPr/>
            </p:nvSpPr>
            <p:spPr>
              <a:xfrm>
                <a:off x="6356465" y="905348"/>
                <a:ext cx="5245617" cy="4120743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b="1" dirty="0"/>
                  <a:t>b. Traces: 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=0⟹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(Hyperbola with axis ass z-axis)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=0⟹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(Hyperbola with axis ass z-axis)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=0⟹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200" dirty="0"/>
                  <a:t> (no point)</a:t>
                </a:r>
              </a:p>
              <a:p>
                <a:r>
                  <a:rPr lang="en-US" sz="2200" b="1" dirty="0"/>
                  <a:t>c</a:t>
                </a:r>
                <a:r>
                  <a:rPr lang="en-US" sz="2200" dirty="0"/>
                  <a:t>. Level curve 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2200" dirty="0"/>
                  <a:t> 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which are circles with center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(0,0,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and rad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=2.8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E4F2C7E-6C9E-450F-86F9-9BEAA56B01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465" y="905348"/>
                <a:ext cx="5245617" cy="4120743"/>
              </a:xfrm>
              <a:prstGeom prst="rect">
                <a:avLst/>
              </a:prstGeom>
              <a:blipFill>
                <a:blip r:embed="rId4"/>
                <a:stretch>
                  <a:fillRect l="-1392" t="-886" r="-1972" b="-2363"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831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E383C0-2927-45CD-B990-65CD5D149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590" y="274320"/>
            <a:ext cx="5612263" cy="572747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AA468A7-DE6D-462A-A97F-7E238BCDF885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2144324" y="4667658"/>
            <a:ext cx="247944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lg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06CF96-1669-4965-BF31-1B6DE5B0B3CE}"/>
                  </a:ext>
                </a:extLst>
              </p:cNvPr>
              <p:cNvSpPr txBox="1"/>
              <p:nvPr/>
            </p:nvSpPr>
            <p:spPr>
              <a:xfrm>
                <a:off x="559009" y="4452214"/>
                <a:ext cx="158531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𝑥𝑧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𝑝𝑙𝑎𝑛𝑒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06CF96-1669-4965-BF31-1B6DE5B0B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09" y="4452214"/>
                <a:ext cx="1585315" cy="430887"/>
              </a:xfrm>
              <a:prstGeom prst="rect">
                <a:avLst/>
              </a:prstGeom>
              <a:blipFill>
                <a:blip r:embed="rId3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59D94-26BB-422C-A86C-719A15C16999}"/>
                  </a:ext>
                </a:extLst>
              </p:cNvPr>
              <p:cNvSpPr txBox="1"/>
              <p:nvPr/>
            </p:nvSpPr>
            <p:spPr>
              <a:xfrm>
                <a:off x="10038112" y="3213556"/>
                <a:ext cx="157225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𝑦𝑧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𝑝𝑙𝑎𝑛𝑒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959D94-26BB-422C-A86C-719A15C16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8112" y="3213556"/>
                <a:ext cx="1572259" cy="430887"/>
              </a:xfrm>
              <a:prstGeom prst="rect">
                <a:avLst/>
              </a:prstGeom>
              <a:blipFill>
                <a:blip r:embed="rId4"/>
                <a:stretch>
                  <a:fillRect r="-388"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7E79CF-70D2-41A5-981B-1B4F96F4C2E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958860" y="2403826"/>
            <a:ext cx="3079252" cy="1025174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prstDash val="lg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3A8162-5A1B-471F-8540-922B3B977C1E}"/>
              </a:ext>
            </a:extLst>
          </p:cNvPr>
          <p:cNvCxnSpPr>
            <a:cxnSpLocks/>
          </p:cNvCxnSpPr>
          <p:nvPr/>
        </p:nvCxnSpPr>
        <p:spPr>
          <a:xfrm flipH="1" flipV="1">
            <a:off x="2499376" y="3036552"/>
            <a:ext cx="1704168" cy="1415662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D7390E-4DC2-4278-8F78-F86352D06F45}"/>
                  </a:ext>
                </a:extLst>
              </p:cNvPr>
              <p:cNvSpPr txBox="1"/>
              <p:nvPr/>
            </p:nvSpPr>
            <p:spPr>
              <a:xfrm>
                <a:off x="879862" y="2626040"/>
                <a:ext cx="1776902" cy="809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𝐿𝑒𝑣𝑒𝑙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𝑐𝑢𝑟𝑣𝑒</m:t>
                      </m:r>
                    </m:oMath>
                  </m:oMathPara>
                </a14:m>
                <a:endParaRPr lang="en-US" sz="2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D7390E-4DC2-4278-8F78-F86352D06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62" y="2626040"/>
                <a:ext cx="1776902" cy="809389"/>
              </a:xfrm>
              <a:prstGeom prst="rect">
                <a:avLst/>
              </a:prstGeom>
              <a:blipFill>
                <a:blip r:embed="rId5"/>
                <a:stretch>
                  <a:fillRect b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0053CE-B417-499F-8627-A6F9440BAAF8}"/>
              </a:ext>
            </a:extLst>
          </p:cNvPr>
          <p:cNvCxnSpPr>
            <a:cxnSpLocks/>
          </p:cNvCxnSpPr>
          <p:nvPr/>
        </p:nvCxnSpPr>
        <p:spPr>
          <a:xfrm flipH="1">
            <a:off x="2519941" y="2069869"/>
            <a:ext cx="1267516" cy="96668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50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EC1630B-3004-450D-8417-A9815777BF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936140"/>
                  </p:ext>
                </p:extLst>
              </p:nvPr>
            </p:nvGraphicFramePr>
            <p:xfrm>
              <a:off x="540328" y="719666"/>
              <a:ext cx="11105803" cy="462290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697729">
                      <a:extLst>
                        <a:ext uri="{9D8B030D-6E8A-4147-A177-3AD203B41FA5}">
                          <a16:colId xmlns:a16="http://schemas.microsoft.com/office/drawing/2014/main" val="1477185988"/>
                        </a:ext>
                      </a:extLst>
                    </a:gridCol>
                    <a:gridCol w="3706140">
                      <a:extLst>
                        <a:ext uri="{9D8B030D-6E8A-4147-A177-3AD203B41FA5}">
                          <a16:colId xmlns:a16="http://schemas.microsoft.com/office/drawing/2014/main" val="854752502"/>
                        </a:ext>
                      </a:extLst>
                    </a:gridCol>
                    <a:gridCol w="3701934">
                      <a:extLst>
                        <a:ext uri="{9D8B030D-6E8A-4147-A177-3AD203B41FA5}">
                          <a16:colId xmlns:a16="http://schemas.microsoft.com/office/drawing/2014/main" val="3110445697"/>
                        </a:ext>
                      </a:extLst>
                    </a:gridCol>
                  </a:tblGrid>
                  <a:tr h="101718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Axis: z-axis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1800" b="1" i="0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1800" b="1" i="0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Axis: y-axis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800" b="1" i="0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1800" b="1" i="0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1800" b="1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Axis: x-axis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7135829"/>
                      </a:ext>
                    </a:extLst>
                  </a:tr>
                  <a:tr h="34253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58598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EC1630B-3004-450D-8417-A9815777BF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936140"/>
                  </p:ext>
                </p:extLst>
              </p:nvPr>
            </p:nvGraphicFramePr>
            <p:xfrm>
              <a:off x="540328" y="719666"/>
              <a:ext cx="11105803" cy="462290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697729">
                      <a:extLst>
                        <a:ext uri="{9D8B030D-6E8A-4147-A177-3AD203B41FA5}">
                          <a16:colId xmlns:a16="http://schemas.microsoft.com/office/drawing/2014/main" val="1477185988"/>
                        </a:ext>
                      </a:extLst>
                    </a:gridCol>
                    <a:gridCol w="3706140">
                      <a:extLst>
                        <a:ext uri="{9D8B030D-6E8A-4147-A177-3AD203B41FA5}">
                          <a16:colId xmlns:a16="http://schemas.microsoft.com/office/drawing/2014/main" val="854752502"/>
                        </a:ext>
                      </a:extLst>
                    </a:gridCol>
                    <a:gridCol w="3701934">
                      <a:extLst>
                        <a:ext uri="{9D8B030D-6E8A-4147-A177-3AD203B41FA5}">
                          <a16:colId xmlns:a16="http://schemas.microsoft.com/office/drawing/2014/main" val="3110445697"/>
                        </a:ext>
                      </a:extLst>
                    </a:gridCol>
                  </a:tblGrid>
                  <a:tr h="11975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5" t="-508" r="-200824" b="-286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508" r="-100493" b="-286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08" r="-493" b="-2862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7135829"/>
                      </a:ext>
                    </a:extLst>
                  </a:tr>
                  <a:tr h="34253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585986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6FAB3AA-0E45-43AA-A0A3-DB93A0FF6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598" y="2087727"/>
            <a:ext cx="3465865" cy="2816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51AF1C-A5E5-45D6-A898-EB924C085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004" y="2194511"/>
            <a:ext cx="3437991" cy="2610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7FF52E-881B-4949-A480-85FE64421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34" y="1961803"/>
            <a:ext cx="2623893" cy="330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8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E0FE74-CE05-468A-99D7-41139688A18C}"/>
              </a:ext>
            </a:extLst>
          </p:cNvPr>
          <p:cNvSpPr txBox="1"/>
          <p:nvPr/>
        </p:nvSpPr>
        <p:spPr>
          <a:xfrm>
            <a:off x="448888" y="290945"/>
            <a:ext cx="3466407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hnschrift Condensed" panose="020B0502040204020203" pitchFamily="34" charset="0"/>
              </a:rPr>
              <a:t>Quadric Surfaces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2C8B87C-99F8-4871-983D-63340CD1FB11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032000" y="1010611"/>
              <a:ext cx="8128000" cy="415703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4999706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9074822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  <a:p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Ellipsoid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6572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76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Hyperboloid of One Sheet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49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200" dirty="0"/>
                            <a:t>Hyperboloid of Two Sheets</a:t>
                          </a:r>
                        </a:p>
                        <a:p>
                          <a:endParaRPr lang="en-US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76095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/>
                            <a:t>Elliptic Paraboloid</a:t>
                          </a:r>
                          <a:endParaRPr lang="en-US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22592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2C8B87C-99F8-4871-983D-63340CD1F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726365"/>
                  </p:ext>
                </p:extLst>
              </p:nvPr>
            </p:nvGraphicFramePr>
            <p:xfrm>
              <a:off x="2032000" y="1010611"/>
              <a:ext cx="8128000" cy="415703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14999706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907482295"/>
                        </a:ext>
                      </a:extLst>
                    </a:gridCol>
                  </a:tblGrid>
                  <a:tr h="10996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315" r="-100150" b="-277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Ellipsoid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6572726"/>
                      </a:ext>
                    </a:extLst>
                  </a:tr>
                  <a:tr h="76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149600" r="-100150" b="-30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976284"/>
                      </a:ext>
                    </a:extLst>
                  </a:tr>
                  <a:tr h="76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247619" r="-1001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Hyperboloid of One Sheet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9249846"/>
                      </a:ext>
                    </a:extLst>
                  </a:tr>
                  <a:tr h="76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50400" r="-100150" b="-10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200" dirty="0"/>
                            <a:t>Hyperboloid of Two Sheets</a:t>
                          </a:r>
                        </a:p>
                        <a:p>
                          <a:endParaRPr lang="en-US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7609538"/>
                      </a:ext>
                    </a:extLst>
                  </a:tr>
                  <a:tr h="76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446825" r="-100150" b="-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/>
                            <a:t>Elliptic Paraboloid</a:t>
                          </a:r>
                          <a:endParaRPr lang="en-US" sz="2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22592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1108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50DC-08F0-4A07-98E8-837ACAD81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Limits and Continuity in Higher Dimensions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E73C1-6415-43E0-851A-3A96C1C72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14.2</a:t>
            </a:r>
          </a:p>
          <a:p>
            <a:r>
              <a:rPr lang="en-US" dirty="0"/>
              <a:t>Thomas calculus 14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1586688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CC16-936C-4034-BC75-1985309E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83338" cy="1450757"/>
          </a:xfrm>
        </p:spPr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Limits for Functions of Two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5AD94-403A-4B03-954F-422FE5CA1C3B}"/>
              </a:ext>
            </a:extLst>
          </p:cNvPr>
          <p:cNvSpPr txBox="1"/>
          <p:nvPr/>
        </p:nvSpPr>
        <p:spPr>
          <a:xfrm>
            <a:off x="423948" y="1970116"/>
            <a:ext cx="1529543" cy="5232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E5D1FD-02EC-47FD-8E2E-CA629E481F7E}"/>
                  </a:ext>
                </a:extLst>
              </p:cNvPr>
              <p:cNvSpPr txBox="1"/>
              <p:nvPr/>
            </p:nvSpPr>
            <p:spPr>
              <a:xfrm>
                <a:off x="548638" y="2652376"/>
                <a:ext cx="4926679" cy="2607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If the values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lie arbitrarily close to a fixed  real  number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200" dirty="0"/>
                  <a:t> for all points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sufficiently close to a point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, we say that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/>
                  <a:t> approaches the limit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200" dirty="0"/>
                  <a:t> as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approaches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 Mathematically, we write it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E5D1FD-02EC-47FD-8E2E-CA629E481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8" y="2652376"/>
                <a:ext cx="4926679" cy="2607958"/>
              </a:xfrm>
              <a:prstGeom prst="rect">
                <a:avLst/>
              </a:prstGeom>
              <a:blipFill>
                <a:blip r:embed="rId2"/>
                <a:stretch>
                  <a:fillRect l="-1609" t="-1636" r="-1980" b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B3D4ACC-D369-442D-895A-0985AA995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684" y="2518494"/>
            <a:ext cx="3645133" cy="308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52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F38F57-CF19-43A3-B2EF-66212DCBD1F9}"/>
              </a:ext>
            </a:extLst>
          </p:cNvPr>
          <p:cNvSpPr txBox="1"/>
          <p:nvPr/>
        </p:nvSpPr>
        <p:spPr>
          <a:xfrm>
            <a:off x="610983" y="465513"/>
            <a:ext cx="6072449" cy="5232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Properties of Limits of Functions of Two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F4387A-6BC3-4D16-A1D1-904D40C012D6}"/>
                  </a:ext>
                </a:extLst>
              </p:cNvPr>
              <p:cNvSpPr txBox="1"/>
              <p:nvPr/>
            </p:nvSpPr>
            <p:spPr>
              <a:xfrm>
                <a:off x="610983" y="1313411"/>
                <a:ext cx="10677701" cy="4740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The following rules hold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 is a real number and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2200" dirty="0"/>
              </a:p>
              <a:p>
                <a:pPr marL="342900" indent="-342900">
                  <a:buAutoNum type="arabicPeriod"/>
                </a:pPr>
                <a:r>
                  <a:rPr lang="en-US" sz="2200" dirty="0"/>
                  <a:t>Sum Rule: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2200" dirty="0"/>
              </a:p>
              <a:p>
                <a:pPr marL="342900" indent="-342900">
                  <a:buFontTx/>
                  <a:buAutoNum type="arabicPeriod"/>
                </a:pPr>
                <a:r>
                  <a:rPr lang="en-US" sz="2200" dirty="0"/>
                  <a:t>Difference Rule: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2200" dirty="0"/>
              </a:p>
              <a:p>
                <a:pPr marL="342900" indent="-342900">
                  <a:buFontTx/>
                  <a:buAutoNum type="arabicPeriod"/>
                </a:pPr>
                <a:r>
                  <a:rPr lang="en-US" sz="2200" dirty="0"/>
                  <a:t>Constant Multiple Rule: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marL="342900" indent="-342900">
                  <a:buFontTx/>
                  <a:buAutoNum type="arabicPeriod"/>
                </a:pPr>
                <a:r>
                  <a:rPr lang="en-US" sz="2200" dirty="0"/>
                  <a:t>Product Rule: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2200" dirty="0"/>
              </a:p>
              <a:p>
                <a:pPr marL="342900" indent="-342900">
                  <a:buFontTx/>
                  <a:buAutoNum type="arabicPeriod"/>
                </a:pPr>
                <a:r>
                  <a:rPr lang="en-US" sz="2200" dirty="0"/>
                  <a:t>Quotient Rule: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2200" dirty="0"/>
              </a:p>
              <a:p>
                <a:pPr marL="342900" indent="-342900">
                  <a:buFontTx/>
                  <a:buAutoNum type="arabicPeriod"/>
                </a:pPr>
                <a:r>
                  <a:rPr lang="en-US" sz="2200" dirty="0"/>
                  <a:t>Power Rule: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b="0" i="0" dirty="0"/>
                  <a:t>is positive integer</a:t>
                </a:r>
                <a:r>
                  <a:rPr lang="en-US" sz="2200" i="0" dirty="0"/>
                  <a:t> </a:t>
                </a:r>
                <a:endParaRPr lang="en-US" sz="2200" dirty="0"/>
              </a:p>
              <a:p>
                <a:pPr marL="342900" indent="-342900">
                  <a:buFontTx/>
                  <a:buAutoNum type="arabicPeriod"/>
                </a:pPr>
                <a:r>
                  <a:rPr lang="en-US" sz="2200" dirty="0"/>
                  <a:t>Root Rule: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1/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i="0" dirty="0"/>
                  <a:t>is positive intege</a:t>
                </a:r>
                <a:r>
                  <a:rPr lang="en-US" sz="2200" b="0" i="0" dirty="0"/>
                  <a:t>r and if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b="0" i="0" dirty="0"/>
                  <a:t>is even then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b="0" i="0" dirty="0"/>
                  <a:t>is positive</a:t>
                </a:r>
                <a:r>
                  <a:rPr lang="en-US" sz="2200" b="0" i="0" dirty="0">
                    <a:latin typeface="+mj-lt"/>
                  </a:rPr>
                  <a:t>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F4387A-6BC3-4D16-A1D1-904D40C01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83" y="1313411"/>
                <a:ext cx="10677701" cy="4740272"/>
              </a:xfrm>
              <a:prstGeom prst="rect">
                <a:avLst/>
              </a:prstGeom>
              <a:blipFill>
                <a:blip r:embed="rId2"/>
                <a:stretch>
                  <a:fillRect l="-742" t="-771" b="-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356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760453-D38F-404B-BF51-878239D5DF33}"/>
              </a:ext>
            </a:extLst>
          </p:cNvPr>
          <p:cNvSpPr txBox="1"/>
          <p:nvPr/>
        </p:nvSpPr>
        <p:spPr>
          <a:xfrm>
            <a:off x="610983" y="423948"/>
            <a:ext cx="6072449" cy="5232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Limits </a:t>
            </a:r>
            <a:r>
              <a:rPr lang="en-US" sz="2800" b="1">
                <a:solidFill>
                  <a:schemeClr val="bg1"/>
                </a:solidFill>
                <a:latin typeface="Bahnschrift Condensed" panose="020B0502040204020203" pitchFamily="34" charset="0"/>
              </a:rPr>
              <a:t>of Polynomials </a:t>
            </a:r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and Rational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243F3D-C1A3-430E-8F06-6EB93896FBD3}"/>
                  </a:ext>
                </a:extLst>
              </p:cNvPr>
              <p:cNvSpPr txBox="1"/>
              <p:nvPr/>
            </p:nvSpPr>
            <p:spPr>
              <a:xfrm>
                <a:off x="610983" y="1039087"/>
                <a:ext cx="11134901" cy="19325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The limit of a polynomial as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)→(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is evaluated by evaluating function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i.e</a:t>
                </a:r>
                <a:r>
                  <a:rPr lang="en-US" sz="2200" dirty="0"/>
                  <a:t>;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285750" indent="-28575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The limit of a rational function 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)→(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is evaluated by evaluating function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 provided it is defined at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243F3D-C1A3-430E-8F06-6EB93896F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83" y="1039087"/>
                <a:ext cx="11134901" cy="1932517"/>
              </a:xfrm>
              <a:prstGeom prst="rect">
                <a:avLst/>
              </a:prstGeom>
              <a:blipFill>
                <a:blip r:embed="rId2"/>
                <a:stretch>
                  <a:fillRect l="-547" t="-1567" b="-5329"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1AAFADD-8BE0-4B03-86CF-4B4484EC4BC5}"/>
              </a:ext>
            </a:extLst>
          </p:cNvPr>
          <p:cNvSpPr/>
          <p:nvPr/>
        </p:nvSpPr>
        <p:spPr>
          <a:xfrm>
            <a:off x="610983" y="3033468"/>
            <a:ext cx="1814086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Example 1: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E1AB64-95DE-4B04-AB9E-4DC335E17017}"/>
                  </a:ext>
                </a:extLst>
              </p:cNvPr>
              <p:cNvSpPr txBox="1"/>
              <p:nvPr/>
            </p:nvSpPr>
            <p:spPr>
              <a:xfrm>
                <a:off x="610983" y="3682538"/>
                <a:ext cx="5041672" cy="238289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Evaluate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)→(0,1)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/>
              </a:p>
              <a:p>
                <a:r>
                  <a:rPr lang="en-US" sz="2200" dirty="0"/>
                  <a:t>Solution: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)→(0,1)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sz="22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0(1)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+5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E1AB64-95DE-4B04-AB9E-4DC335E17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83" y="3682538"/>
                <a:ext cx="5041672" cy="2382896"/>
              </a:xfrm>
              <a:prstGeom prst="rect">
                <a:avLst/>
              </a:prstGeom>
              <a:blipFill>
                <a:blip r:embed="rId3"/>
                <a:stretch>
                  <a:fillRect l="-144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BB20120-31DF-4A25-8921-1D0D84F639D9}"/>
              </a:ext>
            </a:extLst>
          </p:cNvPr>
          <p:cNvSpPr/>
          <p:nvPr/>
        </p:nvSpPr>
        <p:spPr>
          <a:xfrm>
            <a:off x="6342552" y="3185868"/>
            <a:ext cx="1814086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Example 2: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A1B819-74CC-4028-ACEB-7765E5EFE33B}"/>
                  </a:ext>
                </a:extLst>
              </p:cNvPr>
              <p:cNvSpPr txBox="1"/>
              <p:nvPr/>
            </p:nvSpPr>
            <p:spPr>
              <a:xfrm>
                <a:off x="6342552" y="3834938"/>
                <a:ext cx="5041672" cy="223644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Evaluate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)→(3,−4)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func>
                  </m:oMath>
                </a14:m>
                <a:endParaRPr lang="en-US" sz="2200" dirty="0"/>
              </a:p>
              <a:p>
                <a:r>
                  <a:rPr lang="en-US" sz="2200" dirty="0"/>
                  <a:t>Solution: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)→(3,−4)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func>
                    </m:oMath>
                  </m:oMathPara>
                </a14:m>
                <a:endParaRPr lang="en-US" sz="22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(−4)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A1B819-74CC-4028-ACEB-7765E5EFE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552" y="3834938"/>
                <a:ext cx="5041672" cy="2236446"/>
              </a:xfrm>
              <a:prstGeom prst="rect">
                <a:avLst/>
              </a:prstGeom>
              <a:blipFill>
                <a:blip r:embed="rId4"/>
                <a:stretch>
                  <a:fillRect l="-144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6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FA7895-FBE8-45CD-8944-1C4CAE00110C}"/>
              </a:ext>
            </a:extLst>
          </p:cNvPr>
          <p:cNvSpPr txBox="1"/>
          <p:nvPr/>
        </p:nvSpPr>
        <p:spPr>
          <a:xfrm>
            <a:off x="610983" y="407323"/>
            <a:ext cx="10958165" cy="86177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Evaluating limits with zero denominator: </a:t>
            </a:r>
            <a:r>
              <a:rPr lang="en-US" sz="22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If both numerator and denominator tend to zero then zero denominator can be eliminated by factorization or rationalization.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86F867-FADF-41AD-97F8-BA9D0E396BC6}"/>
              </a:ext>
            </a:extLst>
          </p:cNvPr>
          <p:cNvSpPr/>
          <p:nvPr/>
        </p:nvSpPr>
        <p:spPr>
          <a:xfrm>
            <a:off x="610983" y="1491130"/>
            <a:ext cx="1814086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Example 3: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130C1B-A626-4070-8B6D-48F9B9FA7EF0}"/>
                  </a:ext>
                </a:extLst>
              </p:cNvPr>
              <p:cNvSpPr txBox="1"/>
              <p:nvPr/>
            </p:nvSpPr>
            <p:spPr>
              <a:xfrm>
                <a:off x="610983" y="2219759"/>
                <a:ext cx="10958165" cy="257974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Evaluate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rad>
                          </m:den>
                        </m:f>
                      </m:e>
                    </m:func>
                  </m:oMath>
                </a14:m>
                <a:endParaRPr lang="en-US" sz="2200" dirty="0"/>
              </a:p>
              <a:p>
                <a:r>
                  <a:rPr lang="en-US" sz="2200" dirty="0"/>
                  <a:t>Solution: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)→(0,0)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rad>
                            </m:den>
                          </m:f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)→(0,0)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rad>
                            </m:den>
                          </m:f>
                        </m:e>
                      </m:func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2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)→(0,0)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rad>
                                </m:e>
                              </m:d>
                            </m:num>
                            <m:den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rad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130C1B-A626-4070-8B6D-48F9B9FA7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83" y="2219759"/>
                <a:ext cx="10958165" cy="2579745"/>
              </a:xfrm>
              <a:prstGeom prst="rect">
                <a:avLst/>
              </a:prstGeom>
              <a:blipFill>
                <a:blip r:embed="rId2"/>
                <a:stretch>
                  <a:fillRect l="-66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688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F8D98E-D78C-44D2-BE2E-B7BDD55C92CA}"/>
              </a:ext>
            </a:extLst>
          </p:cNvPr>
          <p:cNvSpPr txBox="1"/>
          <p:nvPr/>
        </p:nvSpPr>
        <p:spPr>
          <a:xfrm>
            <a:off x="412201" y="304678"/>
            <a:ext cx="2662304" cy="5232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Limits Along Curves</a:t>
            </a:r>
            <a:endParaRPr lang="en-US" sz="22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1E3B33-515B-479B-BA50-04B9D7B8C305}"/>
                  </a:ext>
                </a:extLst>
              </p:cNvPr>
              <p:cNvSpPr txBox="1"/>
              <p:nvPr/>
            </p:nvSpPr>
            <p:spPr>
              <a:xfrm>
                <a:off x="412201" y="1113183"/>
                <a:ext cx="6553864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For single variable functions, there are two one sided limits as there are two directions from which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 can approach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/>
                  <a:t>, left and right. </a:t>
                </a:r>
              </a:p>
              <a:p>
                <a:r>
                  <a:rPr lang="en-US" sz="2200" dirty="0"/>
                  <a:t>For functions of two or more variables, the situation is more complicated because there are infinitely many different curves along which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can approach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1E3B33-515B-479B-BA50-04B9D7B8C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01" y="1113183"/>
                <a:ext cx="6553864" cy="2462213"/>
              </a:xfrm>
              <a:prstGeom prst="rect">
                <a:avLst/>
              </a:prstGeom>
              <a:blipFill>
                <a:blip r:embed="rId2"/>
                <a:stretch>
                  <a:fillRect l="-1209" t="-1733" b="-3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B1B6ADA-22D9-4330-8BA2-3ECD8FE2E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559" y="1113183"/>
            <a:ext cx="3419952" cy="22101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9088E23-9DFC-4FF2-92DF-8409E2DA934A}"/>
                  </a:ext>
                </a:extLst>
              </p:cNvPr>
              <p:cNvSpPr/>
              <p:nvPr/>
            </p:nvSpPr>
            <p:spPr>
              <a:xfrm>
                <a:off x="412200" y="3798608"/>
                <a:ext cx="10859857" cy="150291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i="1" dirty="0"/>
                  <a:t> </a:t>
                </a:r>
                <a:r>
                  <a:rPr lang="en-US" sz="2200" dirty="0"/>
                  <a:t>is a smooth parametric curve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𝑝𝑙𝑎𝑛𝑒</m:t>
                    </m:r>
                  </m:oMath>
                </a14:m>
                <a:r>
                  <a:rPr lang="en-US" sz="2200" dirty="0"/>
                  <a:t> represented by the equations </a:t>
                </a:r>
                <a14:m>
                  <m:oMath xmlns:m="http://schemas.openxmlformats.org/officeDocument/2006/math">
                    <m:r>
                      <a:rPr lang="fr-FR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2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200" i="1" dirty="0"/>
                  <a:t> and </a:t>
                </a:r>
                <a14:m>
                  <m:oMath xmlns:m="http://schemas.openxmlformats.org/officeDocument/2006/math">
                    <m:r>
                      <a:rPr lang="fr-FR" sz="22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2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2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2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)→(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𝑎𝑙𝑜𝑛𝑔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2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2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2200" i="1" dirty="0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fr-FR" sz="22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sz="22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22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22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9088E23-9DFC-4FF2-92DF-8409E2DA93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00" y="3798608"/>
                <a:ext cx="10859857" cy="1502912"/>
              </a:xfrm>
              <a:prstGeom prst="rect">
                <a:avLst/>
              </a:prstGeom>
              <a:blipFill>
                <a:blip r:embed="rId4"/>
                <a:stretch>
                  <a:fillRect l="-673" t="-2410" b="-241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245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D876D1-D0DE-4458-B548-70BDF911B918}"/>
              </a:ext>
            </a:extLst>
          </p:cNvPr>
          <p:cNvSpPr/>
          <p:nvPr/>
        </p:nvSpPr>
        <p:spPr>
          <a:xfrm>
            <a:off x="386540" y="368912"/>
            <a:ext cx="1814086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Example 4: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674399-463F-4222-BABA-4DECB37CE5AB}"/>
                  </a:ext>
                </a:extLst>
              </p:cNvPr>
              <p:cNvSpPr txBox="1"/>
              <p:nvPr/>
            </p:nvSpPr>
            <p:spPr>
              <a:xfrm>
                <a:off x="386540" y="1147156"/>
                <a:ext cx="5709460" cy="344613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Consider the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Evaluate the limit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as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)→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en-US" sz="2200" dirty="0"/>
                  <a:t> along </a:t>
                </a:r>
              </a:p>
              <a:p>
                <a:pPr marL="400050" indent="-400050">
                  <a:buAutoNum type="romanLcPeriod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endParaRPr lang="en-US" sz="2200" dirty="0"/>
              </a:p>
              <a:p>
                <a:pPr marL="400050" indent="-400050">
                  <a:buAutoNum type="romanLcPeriod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endParaRPr lang="en-US" sz="2200" dirty="0"/>
              </a:p>
              <a:p>
                <a:pPr marL="400050" indent="-400050">
                  <a:buAutoNum type="romanLcPeriod"/>
                </a:pPr>
                <a:r>
                  <a:rPr lang="en-US" sz="2200" dirty="0"/>
                  <a:t>the line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200" dirty="0"/>
              </a:p>
              <a:p>
                <a:pPr marL="400050" indent="-400050">
                  <a:buAutoNum type="romanLcPeriod"/>
                </a:pPr>
                <a:r>
                  <a:rPr lang="en-US" sz="2200" dirty="0"/>
                  <a:t>The line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200" dirty="0"/>
              </a:p>
              <a:p>
                <a:pPr marL="400050" indent="-400050">
                  <a:buAutoNum type="romanLcPeriod"/>
                </a:pPr>
                <a:r>
                  <a:rPr lang="en-US" sz="2200" dirty="0"/>
                  <a:t>Parabola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1674399-463F-4222-BABA-4DECB37CE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40" y="1147156"/>
                <a:ext cx="5709460" cy="3446136"/>
              </a:xfrm>
              <a:prstGeom prst="rect">
                <a:avLst/>
              </a:prstGeom>
              <a:blipFill>
                <a:blip r:embed="rId2"/>
                <a:stretch>
                  <a:fillRect l="-1278" t="-1058" b="-264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6F8D0A-D811-4FF1-89BA-B714111CBD02}"/>
                  </a:ext>
                </a:extLst>
              </p:cNvPr>
              <p:cNvSpPr txBox="1"/>
              <p:nvPr/>
            </p:nvSpPr>
            <p:spPr>
              <a:xfrm>
                <a:off x="6316285" y="1147156"/>
                <a:ext cx="5709460" cy="446058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Solution(</a:t>
                </a:r>
                <a:r>
                  <a:rPr lang="en-US" sz="2200" b="1" dirty="0" err="1"/>
                  <a:t>i</a:t>
                </a:r>
                <a:r>
                  <a:rPr lang="en-US" sz="2200" b="1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)→(0,0)</m:t>
                                  </m:r>
                                </m:e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𝑎𝑙𝑜𝑛𝑔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=0)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)→(0,0)</m:t>
                                  </m:r>
                                </m:e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𝑎𝑙𝑜𝑛𝑔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=0)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Along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therefore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)→(0,0)</m:t>
                                  </m:r>
                                </m:e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𝑎𝑙𝑜𝑛𝑔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=0)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func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en-US" sz="2200" b="1" dirty="0"/>
                  <a:t>Solution(iii):</a:t>
                </a:r>
              </a:p>
              <a:p>
                <a:r>
                  <a:rPr lang="en-US" sz="2200" dirty="0"/>
                  <a:t>Along the line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)→(0,0)</m:t>
                                  </m:r>
                                </m:e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𝑎𝑙𝑜𝑛𝑔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6F8D0A-D811-4FF1-89BA-B714111CB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285" y="1147156"/>
                <a:ext cx="5709460" cy="4460580"/>
              </a:xfrm>
              <a:prstGeom prst="rect">
                <a:avLst/>
              </a:prstGeom>
              <a:blipFill>
                <a:blip r:embed="rId3"/>
                <a:stretch>
                  <a:fillRect l="-1278" t="-81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127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5F3118-2A9D-416A-86F9-1CA91DE72EEC}"/>
              </a:ext>
            </a:extLst>
          </p:cNvPr>
          <p:cNvSpPr txBox="1"/>
          <p:nvPr/>
        </p:nvSpPr>
        <p:spPr>
          <a:xfrm>
            <a:off x="610983" y="407323"/>
            <a:ext cx="8458202" cy="5232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Relationship between General Limits and Limits along Smooth Curves</a:t>
            </a:r>
            <a:endParaRPr lang="en-US" sz="22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C488F-2731-42CF-A591-659DF767D154}"/>
                  </a:ext>
                </a:extLst>
              </p:cNvPr>
              <p:cNvSpPr txBox="1"/>
              <p:nvPr/>
            </p:nvSpPr>
            <p:spPr>
              <a:xfrm>
                <a:off x="610983" y="1122218"/>
                <a:ext cx="10852268" cy="1785104"/>
              </a:xfrm>
              <a:prstGeom prst="rect">
                <a:avLst/>
              </a:prstGeom>
              <a:solidFill>
                <a:srgbClr val="F6C3AC"/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2200" dirty="0"/>
                  <a:t>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200" dirty="0"/>
                  <a:t> 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)→(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then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200" dirty="0"/>
                  <a:t> 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)→(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along any smooth curve.</a:t>
                </a:r>
              </a:p>
              <a:p>
                <a:pPr marL="342900" indent="-342900">
                  <a:buAutoNum type="arabicPeriod"/>
                </a:pPr>
                <a:r>
                  <a:rPr lang="en-US" sz="2200" dirty="0"/>
                  <a:t>If limit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)→(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fails to exits along some smooth curve, or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has different limits 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)→(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along two different smooth curves then limit of the function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does not exist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4C488F-2731-42CF-A591-659DF767D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83" y="1122218"/>
                <a:ext cx="10852268" cy="1785104"/>
              </a:xfrm>
              <a:prstGeom prst="rect">
                <a:avLst/>
              </a:prstGeom>
              <a:blipFill>
                <a:blip r:embed="rId2"/>
                <a:stretch>
                  <a:fillRect l="-730" t="-2730" r="-787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2A25207-CA29-44FE-A4CE-74E35A9575BF}"/>
              </a:ext>
            </a:extLst>
          </p:cNvPr>
          <p:cNvSpPr/>
          <p:nvPr/>
        </p:nvSpPr>
        <p:spPr>
          <a:xfrm>
            <a:off x="610983" y="3098997"/>
            <a:ext cx="2184381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 Example 4:</a:t>
            </a:r>
            <a:endParaRPr lang="en-US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86C10D-0782-4BDC-8E98-75C82AA35A69}"/>
                  </a:ext>
                </a:extLst>
              </p:cNvPr>
              <p:cNvSpPr txBox="1"/>
              <p:nvPr/>
            </p:nvSpPr>
            <p:spPr>
              <a:xfrm>
                <a:off x="610983" y="3693116"/>
                <a:ext cx="11296996" cy="176503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eqArr>
                              <m:eqArr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)→(0,0)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𝑎𝑙𝑜𝑛𝑔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=0)</m:t>
                                </m:r>
                              </m:e>
                            </m:eqArr>
                          </m:lim>
                        </m:limLow>
                      </m:fName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eqArr>
                              <m:eqArr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)→(0,0)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𝑎𝑙𝑜𝑛𝑔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eqArr>
                          </m:lim>
                        </m:limLow>
                      </m:fName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/>
                  <a:t> therefore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200" dirty="0"/>
                  <a:t> does not exist.</a:t>
                </a: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86C10D-0782-4BDC-8E98-75C82AA35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83" y="3693116"/>
                <a:ext cx="11296996" cy="17650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3340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F46609-B754-4914-916A-B0F72F15A682}"/>
              </a:ext>
            </a:extLst>
          </p:cNvPr>
          <p:cNvSpPr/>
          <p:nvPr/>
        </p:nvSpPr>
        <p:spPr>
          <a:xfrm>
            <a:off x="569419" y="436096"/>
            <a:ext cx="3159070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Practice Questions: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602996-56E0-4EB6-BD15-95B074309E79}"/>
                  </a:ext>
                </a:extLst>
              </p:cNvPr>
              <p:cNvSpPr txBox="1"/>
              <p:nvPr/>
            </p:nvSpPr>
            <p:spPr>
              <a:xfrm>
                <a:off x="545175" y="1213658"/>
                <a:ext cx="11101650" cy="4180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200" dirty="0"/>
                  <a:t>Evaluate limit of the following function along coordinate axes.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)→(0,0)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sz="2200" dirty="0"/>
              </a:p>
              <a:p>
                <a:r>
                  <a:rPr lang="en-US" sz="2200" dirty="0">
                    <a:solidFill>
                      <a:schemeClr val="tx1"/>
                    </a:solidFill>
                  </a:rPr>
                  <a:t>2. Does limit of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)→(0,0)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exists?</a:t>
                </a:r>
              </a:p>
              <a:p>
                <a:r>
                  <a:rPr lang="en-US" sz="2200" dirty="0"/>
                  <a:t>3. Discuss whether the limit of the following function exists?</a:t>
                </a:r>
                <a:endParaRPr lang="en-US" sz="2200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romanLcParenBoth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romanLcParenBoth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romanLcParenBoth"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romanLcParenBoth"/>
                </a:pPr>
                <a:r>
                  <a:rPr lang="en-US" sz="2200" dirty="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602996-56E0-4EB6-BD15-95B074309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75" y="1213658"/>
                <a:ext cx="11101650" cy="4180825"/>
              </a:xfrm>
              <a:prstGeom prst="rect">
                <a:avLst/>
              </a:prstGeom>
              <a:blipFill>
                <a:blip r:embed="rId2"/>
                <a:stretch>
                  <a:fillRect l="-714" t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93E5B5F-CD9D-4E49-B01A-153FAF8167D6}"/>
              </a:ext>
            </a:extLst>
          </p:cNvPr>
          <p:cNvSpPr txBox="1"/>
          <p:nvPr/>
        </p:nvSpPr>
        <p:spPr>
          <a:xfrm>
            <a:off x="7822277" y="3566161"/>
            <a:ext cx="2776451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Exercise 14.2: Solve relevant questions </a:t>
            </a:r>
          </a:p>
        </p:txBody>
      </p:sp>
    </p:spTree>
    <p:extLst>
      <p:ext uri="{BB962C8B-B14F-4D97-AF65-F5344CB8AC3E}">
        <p14:creationId xmlns:p14="http://schemas.microsoft.com/office/powerpoint/2010/main" val="5105074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2366</TotalTime>
  <Words>1153</Words>
  <Application>Microsoft Office PowerPoint</Application>
  <PresentationFormat>Widescreen</PresentationFormat>
  <Paragraphs>140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Algerian</vt:lpstr>
      <vt:lpstr>Bahnschrift Condensed</vt:lpstr>
      <vt:lpstr>Calibri</vt:lpstr>
      <vt:lpstr>Calibri Light</vt:lpstr>
      <vt:lpstr>Cambria Math</vt:lpstr>
      <vt:lpstr>Courier New</vt:lpstr>
      <vt:lpstr>Retrospect</vt:lpstr>
      <vt:lpstr>MATH-234  Multivariable Calculus</vt:lpstr>
      <vt:lpstr>CYLINDERS AND QUADRIC SURFACES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Limits and Continuity in Higher Dimensions</vt:lpstr>
      <vt:lpstr>Limits for Functions of Two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204</cp:revision>
  <dcterms:created xsi:type="dcterms:W3CDTF">2026-01-17T17:08:00Z</dcterms:created>
  <dcterms:modified xsi:type="dcterms:W3CDTF">2026-02-02T04:52:15Z</dcterms:modified>
</cp:coreProperties>
</file>